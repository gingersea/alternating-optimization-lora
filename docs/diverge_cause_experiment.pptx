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7B 发散原因</a:t>
            </a:r>
            <a:br/>
            <a:r>
              <a:t>控制变量实验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DDEE"/>
                </a:solidFill>
              </a:defRPr>
            </a:pPr>
            <a:r>
              <a:t>ALS 修改权重是 28 层模型发散的唯一充分条件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9AA"/>
                </a:solidFill>
              </a:defRPr>
            </a:pPr>
            <a:r>
              <a:t>Qwen2.5-7B (28L)  |  5 条件消融  |  2026-07-24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实验动机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Protocol A 在 28L+ 模型上 100% 发散，但谁是真凶？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  <a:r>
              <a:t>已知事实: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  <a:r>
              <a:t>  . Protocol A (ALS + SGD + Perturb) 在 Qwen7B (28L) 上 11/11 次独立尝试全部发散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  <a:r>
              <a:t>  . 在 ≤24 层模型 (OPT-125m/TinyLlama/Qwen0.5B) 上收敛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  <a:r>
              <a:t>  . 深度边界 ≈ 26 层（残差放大理论预测）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  <a:r>
              <a:t>但从未被严格验证的问题: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  <a:r>
              <a:t>  . ALS 修改权重的行为本身？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  <a:r>
              <a:t>  . SGD 恢复不足？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  <a:r>
              <a:t>  . Perturb 噪声恶化？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  <a:r>
              <a:t>  . ALS 前传钩子的开销？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  <a:r>
              <a:t>→ 使用控制变量法，逐一隔离每个组件，找出真正导致发散的元件。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实验设计: 5 条件消融矩阵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Qwen2.5-7B (28L), WikiText-2, 4 cycles, 50 SGD steps/cycle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1188720"/>
            <a:ext cx="365760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#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0" y="1188720"/>
            <a:ext cx="2011680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条件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1188720"/>
            <a:ext cx="1737360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1188720"/>
            <a:ext cx="914400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SGD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188720"/>
            <a:ext cx="1188720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Perturb</a:t>
            </a:r>
          </a:p>
        </p:txBody>
      </p:sp>
      <p:sp>
        <p:nvSpPr>
          <p:cNvPr id="8" name="Rectangle 7"/>
          <p:cNvSpPr/>
          <p:nvPr/>
        </p:nvSpPr>
        <p:spPr>
          <a:xfrm>
            <a:off x="7589520" y="1188720"/>
            <a:ext cx="2743200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验证什么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572768"/>
            <a:ext cx="3657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1572768"/>
            <a:ext cx="20116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SGD-only (对照组)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1572768"/>
            <a:ext cx="17373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1572768"/>
            <a:ext cx="9144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572768"/>
            <a:ext cx="11887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1572768"/>
            <a:ext cx="2743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纯 SGD 在 28L 是否正常？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956816"/>
            <a:ext cx="36576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7440" y="1956816"/>
            <a:ext cx="201168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Perturb-only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1956816"/>
            <a:ext cx="173736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1956816"/>
            <a:ext cx="91440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956816"/>
            <a:ext cx="118872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1956816"/>
            <a:ext cx="274320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纯噪声是否足以发散？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2340864"/>
            <a:ext cx="3657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2340864"/>
            <a:ext cx="20116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ALS(no-op)+SGD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0" y="2340864"/>
            <a:ext cx="17373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钩子但恢复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0" y="2340864"/>
            <a:ext cx="9144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340864"/>
            <a:ext cx="11887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0" y="2340864"/>
            <a:ext cx="2743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钩子开销是否导致发散？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" y="2724912"/>
            <a:ext cx="365760" cy="36576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1">
                <a:solidFill>
                  <a:srgbClr val="202020"/>
                </a:solidFill>
              </a:defRPr>
            </a:pPr>
            <a: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77440" y="2724912"/>
            <a:ext cx="2011680" cy="36576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1">
                <a:solidFill>
                  <a:srgbClr val="202020"/>
                </a:solidFill>
              </a:defRPr>
            </a:pPr>
            <a:r>
              <a:t>ALS-only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0" y="2724912"/>
            <a:ext cx="1737360" cy="36576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1">
                <a:solidFill>
                  <a:srgbClr val="202020"/>
                </a:solidFill>
              </a:defRPr>
            </a:pPr>
            <a:r>
              <a:t>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0" y="2724912"/>
            <a:ext cx="914400" cy="36576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1">
                <a:solidFill>
                  <a:srgbClr val="202020"/>
                </a:solidFill>
              </a:defRPr>
            </a:pPr>
            <a:r>
              <a:t>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2724912"/>
            <a:ext cx="1188720" cy="36576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1">
                <a:solidFill>
                  <a:srgbClr val="202020"/>
                </a:solidFill>
              </a:defRPr>
            </a:pPr>
            <a:r>
              <a:t>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0" y="2724912"/>
            <a:ext cx="2743200" cy="36576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1">
                <a:solidFill>
                  <a:srgbClr val="202020"/>
                </a:solidFill>
              </a:defRPr>
            </a:pPr>
            <a:r>
              <a:t>孤立 ALS 权重修改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" y="3108960"/>
            <a:ext cx="365760" cy="36576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1">
                <a:solidFill>
                  <a:srgbClr val="202020"/>
                </a:solidFill>
              </a:defRPr>
            </a:pPr>
            <a: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77440" y="3108960"/>
            <a:ext cx="2011680" cy="36576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1">
                <a:solidFill>
                  <a:srgbClr val="202020"/>
                </a:solidFill>
              </a:defRPr>
            </a:pPr>
            <a:r>
              <a:t>ALS+SGD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0" y="3108960"/>
            <a:ext cx="1737360" cy="36576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1">
                <a:solidFill>
                  <a:srgbClr val="202020"/>
                </a:solidFill>
              </a:defRPr>
            </a:pPr>
            <a:r>
              <a:t>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0" y="3108960"/>
            <a:ext cx="914400" cy="36576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1">
                <a:solidFill>
                  <a:srgbClr val="202020"/>
                </a:solidFill>
              </a:defRPr>
            </a:pPr>
            <a:r>
              <a:t>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3108960"/>
            <a:ext cx="1188720" cy="36576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1">
                <a:solidFill>
                  <a:srgbClr val="202020"/>
                </a:solidFill>
              </a:defRPr>
            </a:pPr>
            <a:r>
              <a:t>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89520" y="3108960"/>
            <a:ext cx="2743200" cy="36576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1">
                <a:solidFill>
                  <a:srgbClr val="202020"/>
                </a:solidFill>
              </a:defRPr>
            </a:pPr>
            <a:r>
              <a:t>ALS 修改 + SGD 恢复 (Prot.A−Perturb)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3749039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02020"/>
                </a:solidFill>
              </a:defRPr>
            </a:pPr>
            <a:r>
              <a:t>评估: 每 10 步评估一次 PPL | FLOPs 会计: ALS=4×, SGD=6×, Eval=3×, Perturb=1× 参数量</a:t>
            </a:r>
          </a:p>
          <a:p>
            <a:pPr>
              <a:spcAft>
                <a:spcPts val="400"/>
              </a:spcAft>
              <a:defRPr sz="1200">
                <a:solidFill>
                  <a:srgbClr val="202020"/>
                </a:solidFill>
              </a:defRPr>
            </a:pPr>
            <a:r>
              <a:t>研究假设:</a:t>
            </a:r>
          </a:p>
          <a:p>
            <a:pPr>
              <a:spcAft>
                <a:spcPts val="400"/>
              </a:spcAft>
              <a:defRPr sz="1200">
                <a:solidFill>
                  <a:srgbClr val="202020"/>
                </a:solidFill>
              </a:defRPr>
            </a:pPr>
            <a:r>
              <a:t>  H₁: ALS 权重修改是原因 → 条件 4/5 发散，1/3 正常</a:t>
            </a:r>
          </a:p>
          <a:p>
            <a:pPr>
              <a:spcAft>
                <a:spcPts val="400"/>
              </a:spcAft>
              <a:defRPr sz="1200">
                <a:solidFill>
                  <a:srgbClr val="202020"/>
                </a:solidFill>
              </a:defRPr>
            </a:pPr>
            <a:r>
              <a:t>  H₂: SGD 恢复不足是原因 → 条件 5 收敛（如果 SGD 能恢复）</a:t>
            </a:r>
          </a:p>
          <a:p>
            <a:pPr>
              <a:spcAft>
                <a:spcPts val="400"/>
              </a:spcAft>
              <a:defRPr sz="1200">
                <a:solidFill>
                  <a:srgbClr val="202020"/>
                </a:solidFill>
              </a:defRPr>
            </a:pPr>
            <a:r>
              <a:t>  H₃: Perturb 是原因 → 条件 2 发散</a:t>
            </a:r>
          </a:p>
          <a:p>
            <a:pPr>
              <a:spcAft>
                <a:spcPts val="400"/>
              </a:spcAft>
              <a:defRPr sz="1200">
                <a:solidFill>
                  <a:srgbClr val="202020"/>
                </a:solidFill>
              </a:defRPr>
            </a:pPr>
            <a:r>
              <a:t>  H₄: 钩子开销是原因 → 条件 3 发散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核心结果: 只有含 ALS 修改的条件发散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5 条件 × Qwen2.5-7B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1188720"/>
            <a:ext cx="365760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#</a:t>
            </a:r>
          </a:p>
        </p:txBody>
      </p:sp>
      <p:sp>
        <p:nvSpPr>
          <p:cNvPr id="4" name="Rectangle 3"/>
          <p:cNvSpPr/>
          <p:nvPr/>
        </p:nvSpPr>
        <p:spPr>
          <a:xfrm>
            <a:off x="2560320" y="1188720"/>
            <a:ext cx="2194560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条件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1188720"/>
            <a:ext cx="1920240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最终 PPL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0" y="1188720"/>
            <a:ext cx="1463040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发散？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188720"/>
            <a:ext cx="1371600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评价点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0" y="1188720"/>
            <a:ext cx="1280160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耗时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572768"/>
            <a:ext cx="3657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0" y="1572768"/>
            <a:ext cx="21945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SGD-only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572768"/>
            <a:ext cx="19202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53.6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1572768"/>
            <a:ext cx="14630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✗ 收敛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572768"/>
            <a:ext cx="13716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22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0" y="1572768"/>
            <a:ext cx="12801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1477s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956816"/>
            <a:ext cx="36576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1956816"/>
            <a:ext cx="219456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Perturb-only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1956816"/>
            <a:ext cx="192024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94.4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1956816"/>
            <a:ext cx="146304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✗ 收敛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956816"/>
            <a:ext cx="137160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26880" y="1956816"/>
            <a:ext cx="128016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416s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2340864"/>
            <a:ext cx="3657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0" y="2340864"/>
            <a:ext cx="21945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ALS(no-op)+SGD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2340864"/>
            <a:ext cx="19202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54.7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2340864"/>
            <a:ext cx="14630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✗ 收敛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2340864"/>
            <a:ext cx="13716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21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0" y="2340864"/>
            <a:ext cx="12801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1481s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" y="2724912"/>
            <a:ext cx="365760" cy="36576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1">
                <a:solidFill>
                  <a:srgbClr val="202020"/>
                </a:solidFill>
              </a:defRPr>
            </a:pPr>
            <a: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0" y="2724912"/>
            <a:ext cx="2194560" cy="36576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1">
                <a:solidFill>
                  <a:srgbClr val="202020"/>
                </a:solidFill>
              </a:defRPr>
            </a:pPr>
            <a:r>
              <a:t>ALS-only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2724912"/>
            <a:ext cx="1920240" cy="36576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1">
                <a:solidFill>
                  <a:srgbClr val="202020"/>
                </a:solidFill>
              </a:defRPr>
            </a:pPr>
            <a:r>
              <a:t>1.1×10¹⁵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75120" y="2724912"/>
            <a:ext cx="1463040" cy="36576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1">
                <a:solidFill>
                  <a:srgbClr val="202020"/>
                </a:solidFill>
              </a:defRPr>
            </a:pPr>
            <a:r>
              <a:t>✓ 发散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2724912"/>
            <a:ext cx="1371600" cy="36576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1">
                <a:solidFill>
                  <a:srgbClr val="202020"/>
                </a:solidFill>
              </a:defRPr>
            </a:pPr>
            <a:r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26880" y="2724912"/>
            <a:ext cx="1280160" cy="36576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1">
                <a:solidFill>
                  <a:srgbClr val="202020"/>
                </a:solidFill>
              </a:defRPr>
            </a:pPr>
            <a:r>
              <a:t>211s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" y="3108960"/>
            <a:ext cx="365760" cy="36576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1">
                <a:solidFill>
                  <a:srgbClr val="202020"/>
                </a:solidFill>
              </a:defRPr>
            </a:pPr>
            <a: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0" y="3108960"/>
            <a:ext cx="2194560" cy="36576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1">
                <a:solidFill>
                  <a:srgbClr val="202020"/>
                </a:solidFill>
              </a:defRPr>
            </a:pPr>
            <a:r>
              <a:t>ALS+SGD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0" y="3108960"/>
            <a:ext cx="1920240" cy="36576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1">
                <a:solidFill>
                  <a:srgbClr val="202020"/>
                </a:solidFill>
              </a:defRPr>
            </a:pPr>
            <a:r>
              <a:t>1.4×10¹⁹⁵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75120" y="3108960"/>
            <a:ext cx="1463040" cy="36576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1">
                <a:solidFill>
                  <a:srgbClr val="202020"/>
                </a:solidFill>
              </a:defRPr>
            </a:pPr>
            <a:r>
              <a:t>✓ 发散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3108960"/>
            <a:ext cx="1371600" cy="36576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1">
                <a:solidFill>
                  <a:srgbClr val="202020"/>
                </a:solidFill>
              </a:defRPr>
            </a:pPr>
            <a:r>
              <a:t>12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26880" y="3108960"/>
            <a:ext cx="1280160" cy="36576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1">
                <a:solidFill>
                  <a:srgbClr val="202020"/>
                </a:solidFill>
              </a:defRPr>
            </a:pPr>
            <a:r>
              <a:t>849s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3474720"/>
            <a:ext cx="11430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02020"/>
                </a:solidFill>
              </a:defRPr>
            </a:pPr>
            <a:r>
              <a:t>关键发现:</a:t>
            </a:r>
          </a:p>
          <a:p>
            <a:pPr>
              <a:spcAft>
                <a:spcPts val="400"/>
              </a:spcAft>
              <a:defRPr sz="1300">
                <a:solidFill>
                  <a:srgbClr val="202020"/>
                </a:solidFill>
              </a:defRPr>
            </a:pPr>
            <a:r>
              <a:t>  1. SGD-only 在 28L 上完全正常 → 排除 SGD 作为原因</a:t>
            </a:r>
          </a:p>
          <a:p>
            <a:pPr>
              <a:spcAft>
                <a:spcPts val="400"/>
              </a:spcAft>
              <a:defRPr sz="1300">
                <a:solidFill>
                  <a:srgbClr val="202020"/>
                </a:solidFill>
              </a:defRPr>
            </a:pPr>
            <a:r>
              <a:t>  2. Perturb-only 只是缓慢恶化 (73→94) 但不发散 → 排除 Perturb</a:t>
            </a:r>
          </a:p>
          <a:p>
            <a:pPr>
              <a:spcAft>
                <a:spcPts val="400"/>
              </a:spcAft>
              <a:defRPr sz="1300">
                <a:solidFill>
                  <a:srgbClr val="202020"/>
                </a:solidFill>
              </a:defRPr>
            </a:pPr>
            <a:r>
              <a:t>  3. ALS(no-op)+SGD 与纯 SGD 几乎一致 (54.7 vs 53.6) → 排除钩子开销</a:t>
            </a:r>
          </a:p>
          <a:p>
            <a:pPr>
              <a:spcAft>
                <a:spcPts val="400"/>
              </a:spcAft>
              <a:defRPr sz="1300">
                <a:solidFill>
                  <a:srgbClr val="202020"/>
                </a:solidFill>
              </a:defRPr>
            </a:pPr>
            <a:r>
              <a:t>  4. ALS-only 一步就发散 (73 → 1.1×10¹⁵) → ALS 修改是充分条件</a:t>
            </a:r>
          </a:p>
          <a:p>
            <a:pPr>
              <a:spcAft>
                <a:spcPts val="400"/>
              </a:spcAft>
              <a:defRPr sz="1300">
                <a:solidFill>
                  <a:srgbClr val="202020"/>
                </a:solidFill>
              </a:defRPr>
            </a:pPr>
            <a:r>
              <a:t>  5. ALS+SGD 50 步 SGD 无法恢复 (1.4×10¹⁹⁵) → 排除 H₂</a:t>
            </a:r>
          </a:p>
          <a:p>
            <a:pPr>
              <a:spcAft>
                <a:spcPts val="400"/>
              </a:spcAft>
              <a:defRPr sz="13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02020"/>
                </a:solidFill>
              </a:defRPr>
            </a:pPr>
            <a:r>
              <a:t>结论: ALS 修改权重是发散的唯一充分条件。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5 条件收敛轨迹 (PPL vs FLOPs)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ALS 相关条件呈天文数字级发散</a:t>
            </a:r>
          </a:p>
        </p:txBody>
      </p:sp>
      <p:pic>
        <p:nvPicPr>
          <p:cNvPr id="3" name="Picture 2" descr="diverge_cause_ppl_vs_fl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051560"/>
            <a:ext cx="1197864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条件 1-3 详解: 收敛的条件 (排除项)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非原因，逐一排除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1188720"/>
            <a:ext cx="5760720" cy="2377440"/>
          </a:xfrm>
          <a:prstGeom prst="rect">
            <a:avLst/>
          </a:prstGeom>
          <a:solidFill>
            <a:srgbClr val="EAFAF1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spcAft>
                <a:spcPts val="200"/>
              </a:spcAft>
              <a:defRPr sz="1100">
                <a:solidFill>
                  <a:srgbClr val="202020"/>
                </a:solidFill>
              </a:defRPr>
            </a:pPr>
            <a:r>
              <a:t>条件 1: SGD-only (对照组)</a:t>
            </a:r>
          </a:p>
          <a:p>
            <a:pPr>
              <a:spcAft>
                <a:spcPts val="200"/>
              </a:spcAft>
              <a:defRPr sz="1100">
                <a:solidFill>
                  <a:srgbClr val="202020"/>
                </a:solidFill>
              </a:defRPr>
            </a:pPr>
            <a:r>
              <a:t>  轨迹: 73.1 → 71.4 (S10) → 66.1 (S50) → 62.3 (S100) → 53.6 (S200)</a:t>
            </a:r>
          </a:p>
          <a:p>
            <a:pPr>
              <a:spcAft>
                <a:spcPts val="200"/>
              </a:spcAft>
              <a:defRPr sz="1100">
                <a:solidFill>
                  <a:srgbClr val="202020"/>
                </a:solidFill>
              </a:defRPr>
            </a:pPr>
            <a:r>
              <a:t>  纯 SGD 在 28 层模型上完全正常收敛</a:t>
            </a:r>
          </a:p>
          <a:p>
            <a:pPr>
              <a:spcAft>
                <a:spcPts val="200"/>
              </a:spcAft>
              <a:defRPr sz="1100">
                <a:solidFill>
                  <a:srgbClr val="202020"/>
                </a:solidFill>
              </a:defRPr>
            </a:pPr>
            <a:r>
              <a:t>  → 排除: SGD 本身不导致发散</a:t>
            </a:r>
          </a:p>
          <a:p>
            <a:pPr>
              <a:spcAft>
                <a:spcPts val="200"/>
              </a:spcAft>
              <a:defRPr sz="1100">
                <a:solidFill>
                  <a:srgbClr val="202020"/>
                </a:solidFill>
              </a:defRPr>
            </a:pPr>
            <a:r>
              <a:t>  → PPL 改善 19.5, 趋势稳健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0" y="1188720"/>
            <a:ext cx="5760720" cy="2377440"/>
          </a:xfrm>
          <a:prstGeom prst="rect">
            <a:avLst/>
          </a:prstGeom>
          <a:solidFill>
            <a:srgbClr val="EAFAF1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spcAft>
                <a:spcPts val="200"/>
              </a:spcAft>
              <a:defRPr sz="1100">
                <a:solidFill>
                  <a:srgbClr val="202020"/>
                </a:solidFill>
              </a:defRPr>
            </a:pPr>
            <a:r>
              <a:t>条件 2: Perturb-only</a:t>
            </a:r>
          </a:p>
          <a:p>
            <a:pPr>
              <a:spcAft>
                <a:spcPts val="200"/>
              </a:spcAft>
              <a:defRPr sz="1100">
                <a:solidFill>
                  <a:srgbClr val="202020"/>
                </a:solidFill>
              </a:defRPr>
            </a:pPr>
            <a:r>
              <a:t>  轨迹: 73.1 → 74.7 → 75.8 → 82.8 → 94.4 (每周期一次扰动后)</a:t>
            </a:r>
          </a:p>
          <a:p>
            <a:pPr>
              <a:spcAft>
                <a:spcPts val="200"/>
              </a:spcAft>
              <a:defRPr sz="1100">
                <a:solidFill>
                  <a:srgbClr val="202020"/>
                </a:solidFill>
              </a:defRPr>
            </a:pPr>
            <a:r>
              <a:t>  纯噪声缓慢恶化 (+21.3 PPL) 但不导致 NaN</a:t>
            </a:r>
          </a:p>
          <a:p>
            <a:pPr>
              <a:spcAft>
                <a:spcPts val="200"/>
              </a:spcAft>
              <a:defRPr sz="1100">
                <a:solidFill>
                  <a:srgbClr val="202020"/>
                </a:solidFill>
              </a:defRPr>
            </a:pPr>
            <a:r>
              <a:t>  噪声独立采样 N(0,σ²), 无法累积 → 不会爆炸</a:t>
            </a:r>
          </a:p>
          <a:p>
            <a:pPr>
              <a:spcAft>
                <a:spcPts val="200"/>
              </a:spcAft>
              <a:defRPr sz="1100">
                <a:solidFill>
                  <a:srgbClr val="202020"/>
                </a:solidFill>
              </a:defRPr>
            </a:pPr>
            <a:r>
              <a:t>  → 排除: Perturb 不启动发散 (只是恶化)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840480"/>
            <a:ext cx="5760720" cy="2377440"/>
          </a:xfrm>
          <a:prstGeom prst="rect">
            <a:avLst/>
          </a:prstGeom>
          <a:solidFill>
            <a:srgbClr val="EAFAF1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spcAft>
                <a:spcPts val="200"/>
              </a:spcAft>
              <a:defRPr sz="1100">
                <a:solidFill>
                  <a:srgbClr val="202020"/>
                </a:solidFill>
              </a:defRPr>
            </a:pPr>
            <a:r>
              <a:t>条件 3: ALS(no-op) + SGD</a:t>
            </a:r>
          </a:p>
          <a:p>
            <a:pPr>
              <a:spcAft>
                <a:spcPts val="200"/>
              </a:spcAft>
              <a:defRPr sz="1100">
                <a:solidFill>
                  <a:srgbClr val="202020"/>
                </a:solidFill>
              </a:defRPr>
            </a:pPr>
            <a:r>
              <a:t>  轨迹: 73.1 → 71.8 (S10) → 67.6 (S50) → 61.6 (S100) → 54.7 (S200)</a:t>
            </a:r>
          </a:p>
          <a:p>
            <a:pPr>
              <a:spcAft>
                <a:spcPts val="200"/>
              </a:spcAft>
              <a:defRPr sz="1100">
                <a:solidFill>
                  <a:srgbClr val="202020"/>
                </a:solidFill>
              </a:defRPr>
            </a:pPr>
            <a:r>
              <a:t>  ALS 求解器运行 (钩子捕获激活 + Cholesky) 但权重立即恢复</a:t>
            </a:r>
          </a:p>
          <a:p>
            <a:pPr>
              <a:spcAft>
                <a:spcPts val="200"/>
              </a:spcAft>
              <a:defRPr sz="1100">
                <a:solidFill>
                  <a:srgbClr val="202020"/>
                </a:solidFill>
              </a:defRPr>
            </a:pPr>
            <a:r>
              <a:t>  与纯 SGD 几乎一致 (54.7 vs 53.6, Δ=1.1 在方差内)</a:t>
            </a:r>
          </a:p>
          <a:p>
            <a:pPr>
              <a:spcAft>
                <a:spcPts val="200"/>
              </a:spcAft>
              <a:defRPr sz="1100">
                <a:solidFill>
                  <a:srgbClr val="202020"/>
                </a:solidFill>
              </a:defRPr>
            </a:pPr>
            <a:r>
              <a:t>  → 排除: ALS 前传钩子开销可忽略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3840480"/>
            <a:ext cx="5760720" cy="2377440"/>
          </a:xfrm>
          <a:prstGeom prst="rect">
            <a:avLst/>
          </a:prstGeom>
          <a:solidFill>
            <a:srgbClr val="EAFAF1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spcAft>
                <a:spcPts val="200"/>
              </a:spcAft>
              <a:defRPr sz="1100">
                <a:solidFill>
                  <a:srgbClr val="202020"/>
                </a:solidFill>
              </a:defRPr>
            </a:pPr>
            <a:r>
              <a:t>三者对比:</a:t>
            </a:r>
          </a:p>
          <a:p>
            <a:pPr>
              <a:spcAft>
                <a:spcPts val="200"/>
              </a:spcAft>
              <a:defRPr sz="1100">
                <a:solidFill>
                  <a:srgbClr val="202020"/>
                </a:solidFill>
              </a:defRPr>
            </a:pPr>
            <a:r>
              <a:t>  条件        PPL(200步)   Δ</a:t>
            </a:r>
          </a:p>
          <a:p>
            <a:pPr>
              <a:spcAft>
                <a:spcPts val="200"/>
              </a:spcAft>
              <a:defRPr sz="1100">
                <a:solidFill>
                  <a:srgbClr val="202020"/>
                </a:solidFill>
              </a:defRPr>
            </a:pPr>
            <a:r>
              <a:t>  SGD-only     53.6       -19.5</a:t>
            </a:r>
          </a:p>
          <a:p>
            <a:pPr>
              <a:spcAft>
                <a:spcPts val="200"/>
              </a:spcAft>
              <a:defRPr sz="1100">
                <a:solidFill>
                  <a:srgbClr val="202020"/>
                </a:solidFill>
              </a:defRPr>
            </a:pPr>
            <a:r>
              <a:t>  Perturb-only  94.4      +21.3  (仅4步)</a:t>
            </a:r>
          </a:p>
          <a:p>
            <a:pPr>
              <a:spcAft>
                <a:spcPts val="200"/>
              </a:spcAft>
              <a:defRPr sz="1100">
                <a:solidFill>
                  <a:srgbClr val="202020"/>
                </a:solidFill>
              </a:defRPr>
            </a:pPr>
            <a:r>
              <a:t>  no-op+SGD     54.7      -18.4</a:t>
            </a:r>
          </a:p>
          <a:p>
            <a:pPr>
              <a:spcAft>
                <a:spcPts val="2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02020"/>
                </a:solidFill>
              </a:defRPr>
            </a:pPr>
            <a:r>
              <a:t>安全组结论: 没有 ALS 修改, 28L 模型完全稳定。</a:t>
            </a:r>
          </a:p>
          <a:p>
            <a:pPr>
              <a:spcAft>
                <a:spcPts val="200"/>
              </a:spcAft>
              <a:defRPr sz="1100">
                <a:solidFill>
                  <a:srgbClr val="202020"/>
                </a:solidFill>
              </a:defRPr>
            </a:pPr>
            <a:r>
              <a:t>Perturb 缓慢伤害, SGD 和钩子开销无害。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条件 4: ALS-only — 真凶现形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单次 ALS 权重修改就足以报废 28L 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1188720"/>
            <a:ext cx="5760720" cy="2926080"/>
          </a:xfrm>
          <a:prstGeom prst="rect">
            <a:avLst/>
          </a:prstGeom>
          <a:solidFill>
            <a:srgbClr val="FDEDEC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spcAft>
                <a:spcPts val="200"/>
              </a:spcAft>
              <a:defRPr sz="1100">
                <a:solidFill>
                  <a:srgbClr val="202020"/>
                </a:solidFill>
              </a:defRPr>
            </a:pPr>
            <a:r>
              <a:t>ALS-only 完整轨迹:</a:t>
            </a:r>
          </a:p>
          <a:p>
            <a:pPr>
              <a:spcAft>
                <a:spcPts val="200"/>
              </a:spcAft>
              <a:defRPr sz="1100">
                <a:solidFill>
                  <a:srgbClr val="202020"/>
                </a:solidFill>
              </a:defRPr>
            </a:pPr>
            <a:r>
              <a:t>  Baseline:    PPL = 73.1</a:t>
            </a:r>
          </a:p>
          <a:p>
            <a:pPr>
              <a:spcAft>
                <a:spcPts val="200"/>
              </a:spcAft>
              <a:defRPr sz="1100">
                <a:solidFill>
                  <a:srgbClr val="202020"/>
                </a:solidFill>
              </a:defRPr>
            </a:pPr>
            <a:r>
              <a:t>  C1 ALS:      ||δ||/||W|| = 0.0848  (21.6 / 255.0)</a:t>
            </a:r>
          </a:p>
          <a:p>
            <a:pPr>
              <a:spcAft>
                <a:spcPts val="200"/>
              </a:spcAft>
              <a:defRPr sz="1100">
                <a:solidFill>
                  <a:srgbClr val="202020"/>
                </a:solidFill>
              </a:defRPr>
            </a:pPr>
            <a:r>
              <a:t>    → 一步后 PPL = 2,043,923,833  (2.0×10⁹)</a:t>
            </a:r>
          </a:p>
          <a:p>
            <a:pPr>
              <a:spcAft>
                <a:spcPts val="200"/>
              </a:spcAft>
              <a:defRPr sz="1100">
                <a:solidFill>
                  <a:srgbClr val="202020"/>
                </a:solidFill>
              </a:defRPr>
            </a:pPr>
            <a:r>
              <a:t>  C2 ALS:      ||δ||/||W|| = 0.0315  (8.0 / 254.0)</a:t>
            </a:r>
          </a:p>
          <a:p>
            <a:pPr>
              <a:spcAft>
                <a:spcPts val="200"/>
              </a:spcAft>
              <a:defRPr sz="1100">
                <a:solidFill>
                  <a:srgbClr val="202020"/>
                </a:solidFill>
              </a:defRPr>
            </a:pPr>
            <a:r>
              <a:t>    → 第二步 NaN, 模型从此报废</a:t>
            </a:r>
          </a:p>
          <a:p>
            <a:pPr>
              <a:spcAft>
                <a:spcPts val="2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02020"/>
                </a:solidFill>
              </a:defRPr>
            </a:pPr>
            <a:r>
              <a:t>PPL 从 73 跳到 2×10⁹, 单步跳变 10⁷ 倍</a:t>
            </a:r>
          </a:p>
          <a:p>
            <a:pPr>
              <a:spcAft>
                <a:spcPts val="200"/>
              </a:spcAft>
              <a:defRPr sz="1100">
                <a:solidFill>
                  <a:srgbClr val="202020"/>
                </a:solidFill>
              </a:defRPr>
            </a:pPr>
            <a:r>
              <a:t>→ 这是硬性权重修改的灾难, 而非缓慢恶化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0" y="1188720"/>
            <a:ext cx="5760720" cy="2926080"/>
          </a:xfrm>
          <a:prstGeom prst="rect">
            <a:avLst/>
          </a:prstGeom>
          <a:solidFill>
            <a:srgbClr val="F2F2F2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spcAft>
                <a:spcPts val="200"/>
              </a:spcAft>
              <a:defRPr sz="1100">
                <a:solidFill>
                  <a:srgbClr val="202020"/>
                </a:solidFill>
              </a:defRPr>
            </a:pPr>
            <a:r>
              <a:t>为什么一步就炸?</a:t>
            </a:r>
          </a:p>
          <a:p>
            <a:pPr>
              <a:spcAft>
                <a:spcPts val="2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02020"/>
                </a:solidFill>
              </a:defRPr>
            </a:pPr>
            <a:r>
              <a:t>  W_lm_head ← W_als  (δ ≠ 0)</a:t>
            </a:r>
          </a:p>
          <a:p>
            <a:pPr>
              <a:spcAft>
                <a:spcPts val="200"/>
              </a:spcAft>
              <a:defRPr sz="1100">
                <a:solidFill>
                  <a:srgbClr val="202020"/>
                </a:solidFill>
              </a:defRPr>
            </a:pPr>
            <a:r>
              <a:t>  前传: logits = final_hidden @ W_als</a:t>
            </a:r>
          </a:p>
          <a:p>
            <a:pPr>
              <a:spcAft>
                <a:spcPts val="200"/>
              </a:spcAft>
              <a:defRPr sz="1100">
                <a:solidFill>
                  <a:srgbClr val="202020"/>
                </a:solidFill>
              </a:defRPr>
            </a:pPr>
            <a:r>
              <a:t>  反传: 梯度信号被 δ 污染, 沿残差链传播</a:t>
            </a:r>
          </a:p>
          <a:p>
            <a:pPr>
              <a:spcAft>
                <a:spcPts val="200"/>
              </a:spcAft>
              <a:defRPr sz="1100">
                <a:solidFill>
                  <a:srgbClr val="202020"/>
                </a:solidFill>
              </a:defRPr>
            </a:pPr>
            <a:r>
              <a:t>  δ_{l+1} = (I + J_l) · δ_l</a:t>
            </a:r>
          </a:p>
          <a:p>
            <a:pPr>
              <a:spcAft>
                <a:spcPts val="200"/>
              </a:spcAft>
              <a:defRPr sz="1100">
                <a:solidFill>
                  <a:srgbClr val="202020"/>
                </a:solidFill>
              </a:defRPr>
            </a:pPr>
            <a:r>
              <a:t>  28 层: δ × 1.08²⁷ ≈ δ × 8.0</a:t>
            </a:r>
          </a:p>
          <a:p>
            <a:pPr>
              <a:spcAft>
                <a:spcPts val="200"/>
              </a:spcAft>
              <a:defRPr sz="1100">
                <a:solidFill>
                  <a:srgbClr val="202020"/>
                </a:solidFill>
              </a:defRPr>
            </a:pPr>
            <a:r>
              <a:t>  ||δ||/||W|| = 0.085 × 8.0 = 0.68</a:t>
            </a:r>
          </a:p>
          <a:p>
            <a:pPr>
              <a:spcAft>
                <a:spcPts val="2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02020"/>
                </a:solidFill>
              </a:defRPr>
            </a:pPr>
            <a:r>
              <a:t>→ 最终隐藏层相对预训练偏移 68%</a:t>
            </a:r>
          </a:p>
          <a:p>
            <a:pPr>
              <a:spcAft>
                <a:spcPts val="200"/>
              </a:spcAft>
              <a:defRPr sz="1100">
                <a:solidFill>
                  <a:srgbClr val="202020"/>
                </a:solidFill>
              </a:defRPr>
            </a:pPr>
            <a:r>
              <a:t>→ 模型前传分布完全崩溃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3891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1A1A"/>
                </a:solidFill>
              </a:defRPr>
            </a:pPr>
            <a:r>
              <a:t>结论: ALS 权重修改是发散的必要且充分条件 — 单次即触发，无需 SGD 或 Perturb。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条件 5: ALS + SGD — 50 步 SGD 无法恢复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Protocol A 减 Perturb，SGD 拼尽全力仍失败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1188720"/>
            <a:ext cx="5760720" cy="2926080"/>
          </a:xfrm>
          <a:prstGeom prst="rect">
            <a:avLst/>
          </a:prstGeom>
          <a:solidFill>
            <a:srgbClr val="FDEDEC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spcAft>
                <a:spcPts val="200"/>
              </a:spcAft>
              <a:defRPr sz="1100">
                <a:solidFill>
                  <a:srgbClr val="202020"/>
                </a:solidFill>
              </a:defRPr>
            </a:pPr>
            <a:r>
              <a:t>ALS+SGD 完整轨迹:</a:t>
            </a:r>
          </a:p>
          <a:p>
            <a:pPr>
              <a:spcAft>
                <a:spcPts val="200"/>
              </a:spcAft>
              <a:defRPr sz="1100">
                <a:solidFill>
                  <a:srgbClr val="202020"/>
                </a:solidFill>
              </a:defRPr>
            </a:pPr>
            <a:r>
              <a:t>  Baseline:  PPL = 73.1</a:t>
            </a:r>
          </a:p>
          <a:p>
            <a:pPr>
              <a:spcAft>
                <a:spcPts val="200"/>
              </a:spcAft>
              <a:defRPr sz="1100">
                <a:solidFill>
                  <a:srgbClr val="202020"/>
                </a:solidFill>
              </a:defRPr>
            </a:pPr>
            <a:r>
              <a:t>  C1 ALS:    ||δ||/||W|| = 0.0848</a:t>
            </a:r>
          </a:p>
          <a:p>
            <a:pPr>
              <a:spcAft>
                <a:spcPts val="200"/>
              </a:spcAft>
              <a:defRPr sz="1100">
                <a:solidFill>
                  <a:srgbClr val="202020"/>
                </a:solidFill>
              </a:defRPr>
            </a:pPr>
            <a:r>
              <a:t>    S10:  8.3×10⁸ → S50: 2.6×10⁸   (50 步降了 ~6 个数量级)</a:t>
            </a:r>
          </a:p>
          <a:p>
            <a:pPr>
              <a:spcAft>
                <a:spcPts val="200"/>
              </a:spcAft>
              <a:defRPr sz="1100">
                <a:solidFill>
                  <a:srgbClr val="202020"/>
                </a:solidFill>
              </a:defRPr>
            </a:pPr>
            <a:r>
              <a:t>  C2 ALS:    ||δ||/||W|| = 0.0099</a:t>
            </a:r>
          </a:p>
          <a:p>
            <a:pPr>
              <a:spcAft>
                <a:spcPts val="200"/>
              </a:spcAft>
              <a:defRPr sz="1100">
                <a:solidFill>
                  <a:srgbClr val="202020"/>
                </a:solidFill>
              </a:defRPr>
            </a:pPr>
            <a:r>
              <a:t>    S60-100: 2.9×10⁸ ~ 2.8×10⁸  (更多 SGD 基本无效)</a:t>
            </a:r>
          </a:p>
          <a:p>
            <a:pPr>
              <a:spcAft>
                <a:spcPts val="200"/>
              </a:spcAft>
              <a:defRPr sz="1100">
                <a:solidFill>
                  <a:srgbClr val="202020"/>
                </a:solidFill>
              </a:defRPr>
            </a:pPr>
            <a:r>
              <a:t>  C3 ALS:    ||δ||/||W|| = 0.1962  ← 比 C1 大 2.3 倍!</a:t>
            </a:r>
          </a:p>
          <a:p>
            <a:pPr>
              <a:spcAft>
                <a:spcPts val="200"/>
              </a:spcAft>
              <a:defRPr sz="1100">
                <a:solidFill>
                  <a:srgbClr val="202020"/>
                </a:solidFill>
              </a:defRPr>
            </a:pPr>
            <a:r>
              <a:t>    S110: NaN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0" y="1188720"/>
            <a:ext cx="5760720" cy="2926080"/>
          </a:xfrm>
          <a:prstGeom prst="rect">
            <a:avLst/>
          </a:prstGeom>
          <a:solidFill>
            <a:srgbClr val="F2F2F2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spcAft>
                <a:spcPts val="200"/>
              </a:spcAft>
              <a:defRPr sz="1100">
                <a:solidFill>
                  <a:srgbClr val="202020"/>
                </a:solidFill>
              </a:defRPr>
            </a:pPr>
            <a:r>
              <a:t>分析:</a:t>
            </a:r>
          </a:p>
          <a:p>
            <a:pPr>
              <a:spcAft>
                <a:spcPts val="2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02020"/>
                </a:solidFill>
              </a:defRPr>
            </a:pPr>
            <a:r>
              <a:t>  50 步 SGD 将 PPL 从 2×10⁹ 降到 2.6×10⁸</a:t>
            </a:r>
          </a:p>
          <a:p>
            <a:pPr>
              <a:spcAft>
                <a:spcPts val="200"/>
              </a:spcAft>
              <a:defRPr sz="1100">
                <a:solidFill>
                  <a:srgbClr val="202020"/>
                </a:solidFill>
              </a:defRPr>
            </a:pPr>
            <a:r>
              <a:t>  恢复了 6 个数量级, 但距正常 PPL (~60) 仍差 6 个数量级</a:t>
            </a:r>
          </a:p>
          <a:p>
            <a:pPr>
              <a:spcAft>
                <a:spcPts val="2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02020"/>
                </a:solidFill>
              </a:defRPr>
            </a:pPr>
            <a:r>
              <a:t>  关键: C3 的 δ 反而涨到 0.196 (C1 的 2.3 倍)</a:t>
            </a:r>
          </a:p>
          <a:p>
            <a:pPr>
              <a:spcAft>
                <a:spcPts val="200"/>
              </a:spcAft>
              <a:defRPr sz="1100">
                <a:solidFill>
                  <a:srgbClr val="202020"/>
                </a:solidFill>
              </a:defRPr>
            </a:pPr>
            <a:r>
              <a:t>  → SGD 恢复操作改变了 body 分布</a:t>
            </a:r>
          </a:p>
          <a:p>
            <a:pPr>
              <a:spcAft>
                <a:spcPts val="200"/>
              </a:spcAft>
              <a:defRPr sz="1100">
                <a:solidFill>
                  <a:srgbClr val="202020"/>
                </a:solidFill>
              </a:defRPr>
            </a:pPr>
            <a:r>
              <a:t>  → 下一轮 ALS 在新分布上找到更大的 δ</a:t>
            </a:r>
          </a:p>
          <a:p>
            <a:pPr>
              <a:spcAft>
                <a:spcPts val="200"/>
              </a:spcAft>
              <a:defRPr sz="1100">
                <a:solidFill>
                  <a:srgbClr val="202020"/>
                </a:solidFill>
              </a:defRPr>
            </a:pPr>
            <a:r>
              <a:t>  → 正向反馈循环: 恢复越差 → δ 越大 → 更难恢复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3891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7E22"/>
                </a:solidFill>
              </a:defRPr>
            </a:pPr>
            <a:r>
              <a:t>结论: 排除 H₂ — SGD 恢复不足不是原因本身，但加剧了 ALS 修改引发的恶性循环。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理论推导: 残差放大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为什么 28 层是临界点？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02020"/>
                </a:solidFill>
              </a:defRPr>
            </a:pPr>
            <a:r>
              <a:t>干预传播方程:</a:t>
            </a:r>
          </a:p>
          <a:p>
            <a:pPr>
              <a:spcAft>
                <a:spcPts val="400"/>
              </a:spcAft>
              <a:defRPr sz="1300">
                <a:solidFill>
                  <a:srgbClr val="202020"/>
                </a:solidFill>
              </a:defRPr>
            </a:pPr>
            <a:r>
              <a:t>  δ_{l+1} = (I + J_l) · δ_l</a:t>
            </a:r>
          </a:p>
          <a:p>
            <a:pPr>
              <a:spcAft>
                <a:spcPts val="400"/>
              </a:spcAft>
              <a:defRPr sz="13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02020"/>
                </a:solidFill>
              </a:defRPr>
            </a:pPr>
            <a:r>
              <a:t>  其中 J_l = 层 l 的雅可比矩阵</a:t>
            </a:r>
          </a:p>
          <a:p>
            <a:pPr>
              <a:spcAft>
                <a:spcPts val="400"/>
              </a:spcAft>
              <a:defRPr sz="1300">
                <a:solidFill>
                  <a:srgbClr val="202020"/>
                </a:solidFill>
              </a:defRPr>
            </a:pPr>
            <a:r>
              <a:t>  跨层几何均值:  ρ̄ = ||I + J_l|| ≈ 1.08</a:t>
            </a:r>
          </a:p>
          <a:p>
            <a:pPr>
              <a:spcAft>
                <a:spcPts val="400"/>
              </a:spcAft>
              <a:defRPr sz="13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02020"/>
                </a:solidFill>
              </a:defRPr>
            </a:pPr>
            <a:r>
              <a:t>  28 层模型 (27 次残差连接):</a:t>
            </a:r>
          </a:p>
          <a:p>
            <a:pPr>
              <a:spcAft>
                <a:spcPts val="400"/>
              </a:spcAft>
              <a:defRPr sz="1300">
                <a:solidFill>
                  <a:srgbClr val="202020"/>
                </a:solidFill>
              </a:defRPr>
            </a:pPr>
            <a:r>
              <a:t>  ||δ_final|| = 1.08²⁷ · ||δ_ALS||</a:t>
            </a:r>
          </a:p>
          <a:p>
            <a:pPr>
              <a:spcAft>
                <a:spcPts val="400"/>
              </a:spcAft>
              <a:defRPr sz="1300">
                <a:solidFill>
                  <a:srgbClr val="202020"/>
                </a:solidFill>
              </a:defRPr>
            </a:pPr>
            <a:r>
              <a:t>             ≈ 8.0 × 0.0848</a:t>
            </a:r>
          </a:p>
          <a:p>
            <a:pPr>
              <a:spcAft>
                <a:spcPts val="400"/>
              </a:spcAft>
              <a:defRPr sz="1300">
                <a:solidFill>
                  <a:srgbClr val="202020"/>
                </a:solidFill>
              </a:defRPr>
            </a:pPr>
            <a:r>
              <a:t>             ≈ 0.68 (相对 W 范数)</a:t>
            </a:r>
          </a:p>
          <a:p>
            <a:pPr>
              <a:spcAft>
                <a:spcPts val="400"/>
              </a:spcAft>
              <a:defRPr sz="13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02020"/>
                </a:solidFill>
              </a:defRPr>
            </a:pPr>
            <a:r>
              <a:t>  → 最终隐藏层偏移 68%, 模型崩溃</a:t>
            </a:r>
          </a:p>
          <a:p>
            <a:pPr>
              <a:spcAft>
                <a:spcPts val="400"/>
              </a:spcAft>
              <a:defRPr sz="13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02020"/>
                </a:solidFill>
              </a:defRPr>
            </a:pPr>
            <a:r>
              <a:t>临界层数:</a:t>
            </a:r>
          </a:p>
          <a:p>
            <a:pPr>
              <a:spcAft>
                <a:spcPts val="400"/>
              </a:spcAft>
              <a:defRPr sz="1300">
                <a:solidFill>
                  <a:srgbClr val="202020"/>
                </a:solidFill>
              </a:defRPr>
            </a:pPr>
            <a:r>
              <a:t>  L_max = ln(C_recovery/||δ||)/ln(1.08) ≈ 26</a:t>
            </a:r>
          </a:p>
          <a:p>
            <a:pPr>
              <a:spcAft>
                <a:spcPts val="400"/>
              </a:spcAft>
              <a:defRPr sz="1300">
                <a:solidFill>
                  <a:srgbClr val="202020"/>
                </a:solidFill>
              </a:defRPr>
            </a:pPr>
            <a:r>
              <a:t>  → 28 层恰好落在发散区域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188720"/>
            <a:ext cx="5577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02020"/>
                </a:solidFill>
              </a:defRPr>
            </a:pPr>
            <a:r>
              <a:t>恢复不对称性:</a:t>
            </a:r>
          </a:p>
          <a:p>
            <a:pPr>
              <a:spcAft>
                <a:spcPts val="400"/>
              </a:spcAft>
              <a:defRPr sz="1300">
                <a:solidFill>
                  <a:srgbClr val="202020"/>
                </a:solidFill>
              </a:defRPr>
            </a:pPr>
            <a:r>
              <a:t>  扰动放大:  0.68  (单次 ALS)</a:t>
            </a:r>
          </a:p>
          <a:p>
            <a:pPr>
              <a:spcAft>
                <a:spcPts val="400"/>
              </a:spcAft>
              <a:defRPr sz="1300">
                <a:solidFill>
                  <a:srgbClr val="202020"/>
                </a:solidFill>
              </a:defRPr>
            </a:pPr>
            <a:r>
              <a:t>  SGD 恢复:  ~0.005/步 × 50 = 0.25</a:t>
            </a:r>
          </a:p>
          <a:p>
            <a:pPr>
              <a:spcAft>
                <a:spcPts val="400"/>
              </a:spcAft>
              <a:defRPr sz="1300">
                <a:solidFill>
                  <a:srgbClr val="202020"/>
                </a:solidFill>
              </a:defRPr>
            </a:pPr>
            <a:r>
              <a:t>  不对称比:  0.68 / 0.25 = 2.7</a:t>
            </a:r>
          </a:p>
          <a:p>
            <a:pPr>
              <a:spcAft>
                <a:spcPts val="400"/>
              </a:spcAft>
              <a:defRPr sz="1300">
                <a:solidFill>
                  <a:srgbClr val="202020"/>
                </a:solidFill>
              </a:defRPr>
            </a:pPr>
            <a:r>
              <a:t>  → 即使 50 步 SGD 也远不够</a:t>
            </a:r>
          </a:p>
          <a:p>
            <a:pPr>
              <a:spcAft>
                <a:spcPts val="400"/>
              </a:spcAft>
              <a:defRPr sz="13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02020"/>
                </a:solidFill>
              </a:defRPr>
            </a:pPr>
            <a:r>
              <a:t>为什么 no-op 正常:</a:t>
            </a:r>
          </a:p>
          <a:p>
            <a:pPr>
              <a:spcAft>
                <a:spcPts val="400"/>
              </a:spcAft>
              <a:defRPr sz="1300">
                <a:solidFill>
                  <a:srgbClr val="202020"/>
                </a:solidFill>
              </a:defRPr>
            </a:pPr>
            <a:r>
              <a:t>  ALS(no-op)+SGD 的 lm_head 从未被修改</a:t>
            </a:r>
          </a:p>
          <a:p>
            <a:pPr>
              <a:spcAft>
                <a:spcPts val="400"/>
              </a:spcAft>
              <a:defRPr sz="1300">
                <a:solidFill>
                  <a:srgbClr val="202020"/>
                </a:solidFill>
              </a:defRPr>
            </a:pPr>
            <a:r>
              <a:t>  → 无 δ 传播, 无残差链触发</a:t>
            </a:r>
          </a:p>
          <a:p>
            <a:pPr>
              <a:spcAft>
                <a:spcPts val="400"/>
              </a:spcAft>
              <a:defRPr sz="1300">
                <a:solidFill>
                  <a:srgbClr val="202020"/>
                </a:solidFill>
              </a:defRPr>
            </a:pPr>
            <a:r>
              <a:t>  → 与纯 SGD 几乎一致 (Δ=1.1)</a:t>
            </a:r>
          </a:p>
          <a:p>
            <a:pPr>
              <a:spcAft>
                <a:spcPts val="400"/>
              </a:spcAft>
              <a:defRPr sz="13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02020"/>
                </a:solidFill>
              </a:defRPr>
            </a:pPr>
            <a:r>
              <a:t>A-SYNC 的启示:</a:t>
            </a:r>
          </a:p>
          <a:p>
            <a:pPr>
              <a:spcAft>
                <a:spcPts val="400"/>
              </a:spcAft>
              <a:defRPr sz="1300">
                <a:solidFill>
                  <a:srgbClr val="202020"/>
                </a:solidFill>
              </a:defRPr>
            </a:pPr>
            <a:r>
              <a:t>  保留 ALS 求解 (找方向)</a:t>
            </a:r>
          </a:p>
          <a:p>
            <a:pPr>
              <a:spcAft>
                <a:spcPts val="400"/>
              </a:spcAft>
              <a:defRPr sz="1300">
                <a:solidFill>
                  <a:srgbClr val="202020"/>
                </a:solidFill>
              </a:defRPr>
            </a:pPr>
            <a:r>
              <a:t>  丢弃权重修改 (不触发放大)</a:t>
            </a:r>
          </a:p>
          <a:p>
            <a:pPr>
              <a:spcAft>
                <a:spcPts val="400"/>
              </a:spcAft>
              <a:defRPr sz="1300">
                <a:solidFill>
                  <a:srgbClr val="202020"/>
                </a:solidFill>
              </a:defRPr>
            </a:pPr>
            <a:r>
              <a:t>  梯度偏置注入 (grad += sync·δ)</a:t>
            </a:r>
          </a:p>
          <a:p>
            <a:pPr>
              <a:spcAft>
                <a:spcPts val="400"/>
              </a:spcAft>
              <a:defRPr sz="1300">
                <a:solidFill>
                  <a:srgbClr val="202020"/>
                </a:solidFill>
              </a:defRPr>
            </a:pPr>
            <a:r>
              <a:t>  → 7B 从发散变为收敛 (PPL 7.6)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理论验证图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深度边界 + δ 放大敏感性</a:t>
            </a:r>
          </a:p>
        </p:txBody>
      </p:sp>
      <p:pic>
        <p:nvPicPr>
          <p:cNvPr id="3" name="Picture 2" descr="diverge_cause_the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051560"/>
            <a:ext cx="7772400" cy="5669280"/>
          </a:xfrm>
          <a:prstGeom prst="rect">
            <a:avLst/>
          </a:prstGeom>
        </p:spPr>
      </p:pic>
      <p:pic>
        <p:nvPicPr>
          <p:cNvPr id="4" name="Picture 3" descr="diverge_cause_delta_amplific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051560"/>
            <a:ext cx="402336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结果汇总图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发散 vs 收敛: 只有 ALS 修改爆炸</a:t>
            </a:r>
          </a:p>
        </p:txBody>
      </p:sp>
      <p:pic>
        <p:nvPicPr>
          <p:cNvPr id="3" name="Picture 2" descr="diverge_caus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因果关系链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从 ALS 修改到 NaN 的完整路径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1188720"/>
            <a:ext cx="11704320" cy="2011680"/>
          </a:xfrm>
          <a:prstGeom prst="rect">
            <a:avLst/>
          </a:prstGeom>
          <a:solidFill>
            <a:srgbClr val="FDEDEC"/>
          </a:solidFill>
          <a:ln w="12700">
            <a:solidFill>
              <a:srgbClr val="E0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spcAft>
                <a:spcPts val="200"/>
              </a:spcAft>
              <a:defRPr sz="1200">
                <a:solidFill>
                  <a:srgbClr val="202020"/>
                </a:solidFill>
              </a:defRPr>
            </a:pPr>
            <a:r>
              <a:t>ALS 修改 lm_head 权重  →  W_lm_head ← W_als (δ ≠ 0)</a:t>
            </a:r>
          </a:p>
          <a:p>
            <a:pPr>
              <a:spcAft>
                <a:spcPts val="200"/>
              </a:spcAft>
              <a:defRPr sz="1200">
                <a:solidFill>
                  <a:srgbClr val="202020"/>
                </a:solidFill>
              </a:defRPr>
            </a:pPr>
            <a:r>
              <a:t>  →  前传+反传: body 的梯度信号被 δ 污染</a:t>
            </a:r>
          </a:p>
          <a:p>
            <a:pPr>
              <a:spcAft>
                <a:spcPts val="200"/>
              </a:spcAft>
              <a:defRPr sz="1200">
                <a:solidFill>
                  <a:srgbClr val="202020"/>
                </a:solidFill>
              </a:defRPr>
            </a:pPr>
            <a:r>
              <a:t>  →  残差链: δ × (I+J₂₇)(I+J₂₆)...(I+J₁) ≈ δ × 1.08²⁷ ≈ δ × 8.0</a:t>
            </a:r>
          </a:p>
          <a:p>
            <a:pPr>
              <a:spcAft>
                <a:spcPts val="200"/>
              </a:spcAft>
              <a:defRPr sz="1200">
                <a:solidFill>
                  <a:srgbClr val="202020"/>
                </a:solidFill>
              </a:defRPr>
            </a:pPr>
            <a:r>
              <a:t>  →  浅层梯度指数放大 → 梯度裁剪截断浅层更新</a:t>
            </a:r>
          </a:p>
          <a:p>
            <a:pPr>
              <a:spcAft>
                <a:spcPts val="200"/>
              </a:spcAft>
              <a:defRPr sz="1200">
                <a:solidFill>
                  <a:srgbClr val="202020"/>
                </a:solidFill>
              </a:defRPr>
            </a:pPr>
            <a:r>
              <a:t>  →  浅层参数不更新, 深层参数过度更新 → 参数空间碎片化</a:t>
            </a:r>
          </a:p>
          <a:p>
            <a:pPr>
              <a:spcAft>
                <a:spcPts val="200"/>
              </a:spcAft>
              <a:defRPr sz="1200">
                <a:solidFill>
                  <a:srgbClr val="202020"/>
                </a:solidFill>
              </a:defRPr>
            </a:pPr>
            <a:r>
              <a:t>  →  损失飙升至 10⁸~10¹⁹⁵ → NaN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0"/>
            <a:ext cx="11430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02020"/>
                </a:solidFill>
              </a:defRPr>
            </a:pPr>
            <a:r>
              <a:t>正反馈循环 (条件 5 观测到):</a:t>
            </a:r>
          </a:p>
          <a:p>
            <a:pPr>
              <a:spcAft>
                <a:spcPts val="400"/>
              </a:spcAft>
              <a:defRPr sz="1300">
                <a:solidFill>
                  <a:srgbClr val="202020"/>
                </a:solidFill>
              </a:defRPr>
            </a:pPr>
            <a:r>
              <a:t>  SGD 恢复越差 → body 分布偏移越大</a:t>
            </a:r>
          </a:p>
          <a:p>
            <a:pPr>
              <a:spcAft>
                <a:spcPts val="400"/>
              </a:spcAft>
              <a:defRPr sz="1300">
                <a:solidFill>
                  <a:srgbClr val="202020"/>
                </a:solidFill>
              </a:defRPr>
            </a:pPr>
            <a:r>
              <a:t>  → 下一轮 ALS 在新分布上找到更大的 δ</a:t>
            </a:r>
          </a:p>
          <a:p>
            <a:pPr>
              <a:spcAft>
                <a:spcPts val="400"/>
              </a:spcAft>
              <a:defRPr sz="1300">
                <a:solidFill>
                  <a:srgbClr val="202020"/>
                </a:solidFill>
              </a:defRPr>
            </a:pPr>
            <a:r>
              <a:t>  → C3 的 δ/W = 0.196 &gt; C1 的 0.085 (×2.3)</a:t>
            </a:r>
          </a:p>
          <a:p>
            <a:pPr>
              <a:spcAft>
                <a:spcPts val="400"/>
              </a:spcAft>
              <a:defRPr sz="1300">
                <a:solidFill>
                  <a:srgbClr val="202020"/>
                </a:solidFill>
              </a:defRPr>
            </a:pPr>
            <a:r>
              <a:t>  → 恢复更难 → 下一轮 δ 更大 → ... → NaN</a:t>
            </a:r>
          </a:p>
          <a:p>
            <a:pPr>
              <a:spcAft>
                <a:spcPts val="400"/>
              </a:spcAft>
              <a:defRPr sz="13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02020"/>
                </a:solidFill>
              </a:defRPr>
            </a:pPr>
            <a:r>
              <a:t>Perturb 的角色: 在 7B 上只是进一步恶化这个循环</a:t>
            </a:r>
          </a:p>
          <a:p>
            <a:pPr>
              <a:spcAft>
                <a:spcPts val="400"/>
              </a:spcAft>
              <a:defRPr sz="1300">
                <a:solidFill>
                  <a:srgbClr val="202020"/>
                </a:solidFill>
              </a:defRPr>
            </a:pPr>
            <a:r>
              <a:t>  但它本身不启动发散 (条件 2 证明)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关键发现 (7 条)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证据强度标注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1188720"/>
            <a:ext cx="365760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#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1188720"/>
            <a:ext cx="3291840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发现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0" y="1188720"/>
            <a:ext cx="3840480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证据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0" y="1188720"/>
            <a:ext cx="1463040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强度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572768"/>
            <a:ext cx="365760" cy="36576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1">
                <a:solidFill>
                  <a:srgbClr val="202020"/>
                </a:solidFill>
              </a:defRPr>
            </a:pPr>
            <a: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1572768"/>
            <a:ext cx="3291840" cy="36576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1">
                <a:solidFill>
                  <a:srgbClr val="202020"/>
                </a:solidFill>
              </a:defRPr>
            </a:pPr>
            <a:r>
              <a:t>ALS 修改权重是发散的唯一充分条件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572768"/>
            <a:ext cx="3840480" cy="36576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1">
                <a:solidFill>
                  <a:srgbClr val="202020"/>
                </a:solidFill>
              </a:defRPr>
            </a:pPr>
            <a:r>
              <a:t>ALS-only 1 步 PPL 73→2×10⁹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89920" y="1572768"/>
            <a:ext cx="1463040" cy="36576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1">
                <a:solidFill>
                  <a:srgbClr val="202020"/>
                </a:solidFill>
              </a:defRPr>
            </a:pPr>
            <a:r>
              <a:t>★★★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956816"/>
            <a:ext cx="36576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1956816"/>
            <a:ext cx="329184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SGD 在 28L 上完全正常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1956816"/>
            <a:ext cx="384048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SGD-only 200 步收敛 PPL 53.6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89920" y="1956816"/>
            <a:ext cx="146304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★★★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2340864"/>
            <a:ext cx="3657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2340864"/>
            <a:ext cx="32918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Perturb 不导致发散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2340864"/>
            <a:ext cx="3840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Perturb-only 73→94, 无 NaN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789920" y="2340864"/>
            <a:ext cx="14630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★★★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2724912"/>
            <a:ext cx="36576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0" y="2724912"/>
            <a:ext cx="329184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ALS 钩子开销可忽略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2724912"/>
            <a:ext cx="384048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no-op+SGD 73→54.7 ≈ SGD-only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789920" y="2724912"/>
            <a:ext cx="146304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★★★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3108960"/>
            <a:ext cx="3657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3108960"/>
            <a:ext cx="32918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50 步 SGD 远不足恢复 ALS 损伤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3108960"/>
            <a:ext cx="3840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ALS+SGD 73→2×10⁸, 差 6 个数量级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789920" y="3108960"/>
            <a:ext cx="14630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★★★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" y="3493008"/>
            <a:ext cx="36576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0" y="3493008"/>
            <a:ext cx="329184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ALS δ 随周期增大 (正反馈)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0" y="3493008"/>
            <a:ext cx="384048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δ/W: C1=0.085 → C3=0.196 (×2.3)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789920" y="3493008"/>
            <a:ext cx="146304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★★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" y="3877056"/>
            <a:ext cx="3657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0" y="3877056"/>
            <a:ext cx="32918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理论 L_max≈26 匹配实验边界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0" y="3877056"/>
            <a:ext cx="3840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ρ=1.08, L=28 恰好发散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789920" y="3877056"/>
            <a:ext cx="14630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★★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结论与意义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对 A-SYNC 设计的事后验证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  <a:r>
              <a:t>结论: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  <a:r>
              <a:t>1. ALS 权重修改是 Protocol A 发散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  <a:r>
              <a:t>   的唯一充分条件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  <a:r>
              <a:t>    (严格控制变量证明)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  <a:r>
              <a:t>2. SGD / Perturb / 钩子开销全部排除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  <a:r>
              <a:t>    (条件 1/2/3 全部正常收敛)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  <a:r>
              <a:t>3. 50 步 SGD 无法恢复 ALS 损伤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  <a:r>
              <a:t>    距正常 PPL 差 6 个数量级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  <a:r>
              <a:t>4. ALS δ 随周期增大 → 正反馈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  <a:r>
              <a:t>    → 每次 ALS 让问题更坏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188720"/>
            <a:ext cx="5577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  <a:r>
              <a:t>对 A-SYNC 的事后验证: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  <a:r>
              <a:t>A-SYNC 仍用 ALS 求解 (找方向) ✓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  <a:r>
              <a:t>A-SYNC 不修改权重 (立即恢复) ✓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  <a:r>
              <a:t>A-SYNC 梯度偏置 (grad += sync·δ) ✓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  <a:r>
              <a:t>→ 唯一变化就是不修改权重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  <a:r>
              <a:t>→ 却让 7B 从 100% 发散变为收敛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  <a:r>
              <a:t>→ PPL 58.8 → 7.6 (48 周期)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  <a:r>
              <a:t>如果发散原因不是 ALS 修改权重,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  <a:r>
              <a:t>A-SYNC 的方案不会有效。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  <a:r>
              <a:t>本实验严格证明了这一因果推断。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Thanks!  ·  github.com/hjiang555-a11y/alternating-optimization-lora  ·  2026-07-24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